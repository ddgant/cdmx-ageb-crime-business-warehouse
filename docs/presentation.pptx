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Moran's I</c:v>
                </c:pt>
              </c:strCache>
            </c:strRef>
          </c:tx>
          <c:spPr>
            <a:solidFill>
              <a:srgbClr val="2A78D6"/>
            </a:solidFill>
          </c:spPr>
          <c:cat>
            <c:strRef>
              <c:f>Sheet1!$A$2:$A$5</c:f>
              <c:strCache>
                <c:ptCount val="4"/>
                <c:pt idx="0">
                  <c:v>Business density</c:v>
                </c:pt>
                <c:pt idx="1">
                  <c:v>Crime rate</c:v>
                </c:pt>
                <c:pt idx="2">
                  <c:v>Population density</c:v>
                </c:pt>
                <c:pt idx="3">
                  <c:v>Economic activity rate</c:v>
                </c:pt>
              </c:strCache>
            </c:strRef>
          </c:cat>
          <c:val>
            <c:numRef>
              <c:f>Sheet1!$B$2:$B$5</c:f>
              <c:numCache>
                <c:formatCode>General</c:formatCode>
                <c:ptCount val="4"/>
                <c:pt idx="0">
                  <c:v>0.43</c:v>
                </c:pt>
                <c:pt idx="1">
                  <c:v>0.49</c:v>
                </c:pt>
                <c:pt idx="2">
                  <c:v>0.49</c:v>
                </c:pt>
                <c:pt idx="3">
                  <c:v>0.53</c:v>
                </c:pt>
              </c:numCache>
            </c:numRef>
          </c:val>
        </c:ser>
        <c:dLbls>
          <c:numFmt formatCode="0.00" sourceLinked="0"/>
          <c:txPr>
            <a:bodyPr/>
            <a:lstStyle/>
            <a:p>
              <a:pPr>
                <a:defRPr sz="1300">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300">
                <a:latin typeface="Calibri"/>
              </a:defRPr>
            </a:pPr>
          </a:p>
        </c:txPr>
        <c:crossAx val="-2113994440"/>
        <c:crosses val="autoZero"/>
        <c:auto val="1"/>
        <c:lblAlgn val="ctr"/>
        <c:lblOffset val="100"/>
        <c:noMultiLvlLbl val="0"/>
      </c:catAx>
      <c:valAx>
        <c:axId val="-2113994440"/>
        <c:scaling>
          <c:max val="0.7"/>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wanted to know how population, businesses and crime relate across Mexico City and whether those patterns are clustered. The three numbers are what our warehouse holds after cleaning and joining everything by location.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source describes geography differently, so we needed a common unit. Alcaldias are only 16 observations. Blocks are too small, most have no crime and the Census hides many values. The AGEB is the finest unit with complete Census indicators and official polygons. We tested the integration: almost every point lands in exactly one AGEB, and DENUE's own AGEB code agrees with our spatial join.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warehouse is a star schema. Facts keep their lowest grain: one row per AGEB for population, per establishment for DENUE and per incident for crime. Because of that we can rebuild any KPI at another level without reloading. The validation script compares the warehouse with the staged data, and the data dictionary is generated from the database comments.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Moran's I is positive for every indicator, so neighbouring AGEB are similar. Local Moran finds one connected crime hot spot in the centre. The bivariate Moran says AGEB with many businesses tend to have neighbours with more crime, but it is weaker than the crime pattern itself. We checked with a second neighbour rule and with Empirical Bayes rates, and the result stays positive. These are associations, not causes.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 crime in Mexico City is spatially clustered, and business density is one piece of where it concentrates. Be honest about limits: the years differ, reports are not all crimes, and per-resident rates are inflated in the centre. Everything here is association.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chart" Target="../charts/char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43B"/>
        </a:solidFill>
        <a:effectLst/>
      </p:bgPr>
    </p:bg>
    <p:spTree>
      <p:nvGrpSpPr>
        <p:cNvPr id="1" name=""/>
        <p:cNvGrpSpPr/>
        <p:nvPr/>
      </p:nvGrpSpPr>
      <p:grpSpPr/>
      <p:sp>
        <p:nvSpPr>
          <p:cNvPr id="2" name="Kicker"/>
          <p:cNvSpPr txBox="1"/>
          <p:nvPr/>
        </p:nvSpPr>
        <p:spPr>
          <a:xfrm>
            <a:off x="640080" y="640080"/>
            <a:ext cx="6583680" cy="365760"/>
          </a:xfrm>
          <a:prstGeom prst="rect">
            <a:avLst/>
          </a:prstGeom>
          <a:noFill/>
        </p:spPr>
        <p:txBody>
          <a:bodyPr wrap="square" anchor="t" lIns="0" rIns="0" tIns="0" bIns="0">
            <a:spAutoFit/>
          </a:bodyPr>
          <a:lstStyle/>
          <a:p>
            <a:pPr algn="l">
              <a:spcAft>
                <a:spcPts val="0"/>
              </a:spcAft>
            </a:pPr>
            <a:r>
              <a:rPr sz="1300" b="1">
                <a:solidFill>
                  <a:srgbClr val="C9D6E8"/>
                </a:solidFill>
                <a:latin typeface="Calibri"/>
              </a:rPr>
              <a:t>BUSINESS INTELLIGENCE  |  UNIT 2 PROJECT</a:t>
            </a:r>
          </a:p>
        </p:txBody>
      </p:sp>
      <p:sp>
        <p:nvSpPr>
          <p:cNvPr id="3" name="Title"/>
          <p:cNvSpPr txBox="1"/>
          <p:nvPr/>
        </p:nvSpPr>
        <p:spPr>
          <a:xfrm>
            <a:off x="640080" y="1143000"/>
            <a:ext cx="6583680" cy="1737360"/>
          </a:xfrm>
          <a:prstGeom prst="rect">
            <a:avLst/>
          </a:prstGeom>
          <a:noFill/>
        </p:spPr>
        <p:txBody>
          <a:bodyPr wrap="square" anchor="t" lIns="0" rIns="0" tIns="0" bIns="0">
            <a:spAutoFit/>
          </a:bodyPr>
          <a:lstStyle/>
          <a:p>
            <a:pPr algn="l">
              <a:spcAft>
                <a:spcPts val="0"/>
              </a:spcAft>
            </a:pPr>
            <a:r>
              <a:rPr sz="4600" b="1">
                <a:solidFill>
                  <a:srgbClr val="FFFFFF"/>
                </a:solidFill>
                <a:latin typeface="Calibri"/>
              </a:rPr>
              <a:t>Mexico City Urban Intelligence</a:t>
            </a:r>
          </a:p>
        </p:txBody>
      </p:sp>
      <p:sp>
        <p:nvSpPr>
          <p:cNvPr id="4" name="Subtitle"/>
          <p:cNvSpPr txBox="1"/>
          <p:nvPr/>
        </p:nvSpPr>
        <p:spPr>
          <a:xfrm>
            <a:off x="640080" y="2788920"/>
            <a:ext cx="6309360" cy="1188720"/>
          </a:xfrm>
          <a:prstGeom prst="rect">
            <a:avLst/>
          </a:prstGeom>
          <a:noFill/>
        </p:spPr>
        <p:txBody>
          <a:bodyPr wrap="square" anchor="t" lIns="0" rIns="0" tIns="0" bIns="0">
            <a:spAutoFit/>
          </a:bodyPr>
          <a:lstStyle/>
          <a:p>
            <a:pPr algn="l">
              <a:spcAft>
                <a:spcPts val="0"/>
              </a:spcAft>
            </a:pPr>
            <a:r>
              <a:rPr sz="1900" b="0">
                <a:solidFill>
                  <a:srgbClr val="C9D6E8"/>
                </a:solidFill>
                <a:latin typeface="Calibri"/>
              </a:rPr>
              <a:t>A PostGIS data warehouse that links population, businesses and crime, and a test of whether their patterns cluster in space.</a:t>
            </a:r>
          </a:p>
        </p:txBody>
      </p:sp>
      <p:sp>
        <p:nvSpPr>
          <p:cNvPr id="5" name="Headline number"/>
          <p:cNvSpPr txBox="1"/>
          <p:nvPr/>
        </p:nvSpPr>
        <p:spPr>
          <a:xfrm>
            <a:off x="640080" y="4434840"/>
            <a:ext cx="2011680" cy="640080"/>
          </a:xfrm>
          <a:prstGeom prst="rect">
            <a:avLst/>
          </a:prstGeom>
          <a:noFill/>
        </p:spPr>
        <p:txBody>
          <a:bodyPr wrap="square" anchor="t" lIns="0" rIns="0" tIns="0" bIns="0">
            <a:spAutoFit/>
          </a:bodyPr>
          <a:lstStyle/>
          <a:p>
            <a:pPr algn="l">
              <a:spcAft>
                <a:spcPts val="0"/>
              </a:spcAft>
            </a:pPr>
            <a:r>
              <a:rPr sz="3400" b="1">
                <a:solidFill>
                  <a:srgbClr val="FFFFFF"/>
                </a:solidFill>
                <a:latin typeface="Calibri"/>
              </a:rPr>
              <a:t>9.1 M</a:t>
            </a:r>
          </a:p>
        </p:txBody>
      </p:sp>
      <p:sp>
        <p:nvSpPr>
          <p:cNvPr id="6" name="Headline label"/>
          <p:cNvSpPr txBox="1"/>
          <p:nvPr/>
        </p:nvSpPr>
        <p:spPr>
          <a:xfrm>
            <a:off x="640080" y="5074920"/>
            <a:ext cx="1920240" cy="548640"/>
          </a:xfrm>
          <a:prstGeom prst="rect">
            <a:avLst/>
          </a:prstGeom>
          <a:noFill/>
        </p:spPr>
        <p:txBody>
          <a:bodyPr wrap="square" anchor="t" lIns="0" rIns="0" tIns="0" bIns="0">
            <a:spAutoFit/>
          </a:bodyPr>
          <a:lstStyle/>
          <a:p>
            <a:pPr algn="l">
              <a:spcAft>
                <a:spcPts val="0"/>
              </a:spcAft>
            </a:pPr>
            <a:r>
              <a:rPr sz="1250" b="0">
                <a:solidFill>
                  <a:srgbClr val="C9D6E8"/>
                </a:solidFill>
                <a:latin typeface="Calibri"/>
              </a:rPr>
              <a:t>residents, Census 2020</a:t>
            </a:r>
          </a:p>
        </p:txBody>
      </p:sp>
      <p:sp>
        <p:nvSpPr>
          <p:cNvPr id="7" name="Headline number"/>
          <p:cNvSpPr txBox="1"/>
          <p:nvPr/>
        </p:nvSpPr>
        <p:spPr>
          <a:xfrm>
            <a:off x="2743200" y="4434840"/>
            <a:ext cx="2011680" cy="640080"/>
          </a:xfrm>
          <a:prstGeom prst="rect">
            <a:avLst/>
          </a:prstGeom>
          <a:noFill/>
        </p:spPr>
        <p:txBody>
          <a:bodyPr wrap="square" anchor="t" lIns="0" rIns="0" tIns="0" bIns="0">
            <a:spAutoFit/>
          </a:bodyPr>
          <a:lstStyle/>
          <a:p>
            <a:pPr algn="l">
              <a:spcAft>
                <a:spcPts val="0"/>
              </a:spcAft>
            </a:pPr>
            <a:r>
              <a:rPr sz="3000" b="1">
                <a:solidFill>
                  <a:srgbClr val="FFFFFF"/>
                </a:solidFill>
                <a:latin typeface="Calibri"/>
              </a:rPr>
              <a:t>456,763</a:t>
            </a:r>
          </a:p>
        </p:txBody>
      </p:sp>
      <p:sp>
        <p:nvSpPr>
          <p:cNvPr id="8" name="Headline label"/>
          <p:cNvSpPr txBox="1"/>
          <p:nvPr/>
        </p:nvSpPr>
        <p:spPr>
          <a:xfrm>
            <a:off x="2743200" y="5074920"/>
            <a:ext cx="1920240" cy="548640"/>
          </a:xfrm>
          <a:prstGeom prst="rect">
            <a:avLst/>
          </a:prstGeom>
          <a:noFill/>
        </p:spPr>
        <p:txBody>
          <a:bodyPr wrap="square" anchor="t" lIns="0" rIns="0" tIns="0" bIns="0">
            <a:spAutoFit/>
          </a:bodyPr>
          <a:lstStyle/>
          <a:p>
            <a:pPr algn="l">
              <a:spcAft>
                <a:spcPts val="0"/>
              </a:spcAft>
            </a:pPr>
            <a:r>
              <a:rPr sz="1250" b="0">
                <a:solidFill>
                  <a:srgbClr val="C9D6E8"/>
                </a:solidFill>
                <a:latin typeface="Calibri"/>
              </a:rPr>
              <a:t>establishments, DENUE 11/2024</a:t>
            </a:r>
          </a:p>
        </p:txBody>
      </p:sp>
      <p:sp>
        <p:nvSpPr>
          <p:cNvPr id="9" name="Headline number"/>
          <p:cNvSpPr txBox="1"/>
          <p:nvPr/>
        </p:nvSpPr>
        <p:spPr>
          <a:xfrm>
            <a:off x="4846320" y="4434840"/>
            <a:ext cx="2011680" cy="640080"/>
          </a:xfrm>
          <a:prstGeom prst="rect">
            <a:avLst/>
          </a:prstGeom>
          <a:noFill/>
        </p:spPr>
        <p:txBody>
          <a:bodyPr wrap="square" anchor="t" lIns="0" rIns="0" tIns="0" bIns="0">
            <a:spAutoFit/>
          </a:bodyPr>
          <a:lstStyle/>
          <a:p>
            <a:pPr algn="l">
              <a:spcAft>
                <a:spcPts val="0"/>
              </a:spcAft>
            </a:pPr>
            <a:r>
              <a:rPr sz="3000" b="1">
                <a:solidFill>
                  <a:srgbClr val="E0731C"/>
                </a:solidFill>
                <a:latin typeface="Calibri"/>
              </a:rPr>
              <a:t>197,518</a:t>
            </a:r>
          </a:p>
        </p:txBody>
      </p:sp>
      <p:sp>
        <p:nvSpPr>
          <p:cNvPr id="10" name="Headline label"/>
          <p:cNvSpPr txBox="1"/>
          <p:nvPr/>
        </p:nvSpPr>
        <p:spPr>
          <a:xfrm>
            <a:off x="4846320" y="5074920"/>
            <a:ext cx="1920240" cy="548640"/>
          </a:xfrm>
          <a:prstGeom prst="rect">
            <a:avLst/>
          </a:prstGeom>
          <a:noFill/>
        </p:spPr>
        <p:txBody>
          <a:bodyPr wrap="square" anchor="t" lIns="0" rIns="0" tIns="0" bIns="0">
            <a:spAutoFit/>
          </a:bodyPr>
          <a:lstStyle/>
          <a:p>
            <a:pPr algn="l">
              <a:spcAft>
                <a:spcPts val="0"/>
              </a:spcAft>
            </a:pPr>
            <a:r>
              <a:rPr sz="1250" b="0">
                <a:solidFill>
                  <a:srgbClr val="C9D6E8"/>
                </a:solidFill>
                <a:latin typeface="Calibri"/>
              </a:rPr>
              <a:t>crime incidents, FGJ 2024</a:t>
            </a:r>
          </a:p>
        </p:txBody>
      </p:sp>
      <p:sp>
        <p:nvSpPr>
          <p:cNvPr id="11" name="Team"/>
          <p:cNvSpPr txBox="1"/>
          <p:nvPr/>
        </p:nvSpPr>
        <p:spPr>
          <a:xfrm>
            <a:off x="640080" y="6126480"/>
            <a:ext cx="6858000" cy="365760"/>
          </a:xfrm>
          <a:prstGeom prst="rect">
            <a:avLst/>
          </a:prstGeom>
          <a:noFill/>
        </p:spPr>
        <p:txBody>
          <a:bodyPr wrap="square" anchor="t" lIns="0" rIns="0" tIns="0" bIns="0">
            <a:spAutoFit/>
          </a:bodyPr>
          <a:lstStyle/>
          <a:p>
            <a:pPr algn="l">
              <a:spcAft>
                <a:spcPts val="0"/>
              </a:spcAft>
            </a:pPr>
            <a:r>
              <a:rPr sz="1200" b="0">
                <a:solidFill>
                  <a:srgbClr val="C9D6E8"/>
                </a:solidFill>
                <a:latin typeface="Calibri"/>
              </a:rPr>
              <a:t>Diego, Rodrigo, Arturo, Rous and Mauricio  -  Universidad Politecnica de Yucatan</a:t>
            </a:r>
          </a:p>
        </p:txBody>
      </p:sp>
      <p:sp>
        <p:nvSpPr>
          <p:cNvPr id="12" name="Map panel"/>
          <p:cNvSpPr/>
          <p:nvPr/>
        </p:nvSpPr>
        <p:spPr>
          <a:xfrm>
            <a:off x="7589520" y="0"/>
            <a:ext cx="460217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Crime rate map" descr="map_crime_rate.png"/>
          <p:cNvPicPr>
            <a:picLocks noChangeAspect="1"/>
          </p:cNvPicPr>
          <p:nvPr/>
        </p:nvPicPr>
        <p:blipFill>
          <a:blip r:embed="rId2"/>
          <a:stretch>
            <a:fillRect/>
          </a:stretch>
        </p:blipFill>
        <p:spPr>
          <a:xfrm>
            <a:off x="7578450" y="411480"/>
            <a:ext cx="4624313" cy="60350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t" lIns="0" rIns="0" tIns="0" bIns="0">
            <a:spAutoFit/>
          </a:bodyPr>
          <a:lstStyle/>
          <a:p>
            <a:pPr algn="l">
              <a:spcAft>
                <a:spcPts val="0"/>
              </a:spcAft>
            </a:pPr>
            <a:r>
              <a:rPr sz="3000" b="1">
                <a:solidFill>
                  <a:srgbClr val="1D232B"/>
                </a:solidFill>
                <a:latin typeface="Calibri"/>
              </a:rPr>
              <a:t>One geographic unit, the urban AGEB, ties the four sources together</a:t>
            </a:r>
          </a:p>
        </p:txBody>
      </p:sp>
      <p:sp>
        <p:nvSpPr>
          <p:cNvPr id="3" name="Left heading"/>
          <p:cNvSpPr txBox="1"/>
          <p:nvPr/>
        </p:nvSpPr>
        <p:spPr>
          <a:xfrm>
            <a:off x="548640" y="1417320"/>
            <a:ext cx="5486400" cy="365760"/>
          </a:xfrm>
          <a:prstGeom prst="rect">
            <a:avLst/>
          </a:prstGeom>
          <a:noFill/>
        </p:spPr>
        <p:txBody>
          <a:bodyPr wrap="square" anchor="t" lIns="0" rIns="0" tIns="0" bIns="0">
            <a:spAutoFit/>
          </a:bodyPr>
          <a:lstStyle/>
          <a:p>
            <a:pPr algn="l">
              <a:spcAft>
                <a:spcPts val="0"/>
              </a:spcAft>
            </a:pPr>
            <a:r>
              <a:rPr sz="1600" b="1">
                <a:solidFill>
                  <a:srgbClr val="2A78D6"/>
                </a:solidFill>
                <a:latin typeface="Calibri"/>
              </a:rPr>
              <a:t>Four sources, three geographic shapes</a:t>
            </a:r>
          </a:p>
        </p:txBody>
      </p:sp>
      <p:sp>
        <p:nvSpPr>
          <p:cNvPr id="4" name="Source Census 2020"/>
          <p:cNvSpPr/>
          <p:nvPr/>
        </p:nvSpPr>
        <p:spPr>
          <a:xfrm>
            <a:off x="548640" y="1874519"/>
            <a:ext cx="5760720" cy="73152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ource name"/>
          <p:cNvSpPr txBox="1"/>
          <p:nvPr/>
        </p:nvSpPr>
        <p:spPr>
          <a:xfrm>
            <a:off x="777240" y="1984248"/>
            <a:ext cx="2103120" cy="548640"/>
          </a:xfrm>
          <a:prstGeom prst="rect">
            <a:avLst/>
          </a:prstGeom>
          <a:noFill/>
        </p:spPr>
        <p:txBody>
          <a:bodyPr wrap="square" anchor="ctr" lIns="0" rIns="0" tIns="0" bIns="0">
            <a:spAutoFit/>
          </a:bodyPr>
          <a:lstStyle/>
          <a:p>
            <a:pPr algn="l">
              <a:spcAft>
                <a:spcPts val="0"/>
              </a:spcAft>
            </a:pPr>
            <a:r>
              <a:rPr sz="1600" b="1">
                <a:solidFill>
                  <a:srgbClr val="1D232B"/>
                </a:solidFill>
                <a:latin typeface="Calibri"/>
              </a:rPr>
              <a:t>Census 2020</a:t>
            </a:r>
          </a:p>
        </p:txBody>
      </p:sp>
      <p:sp>
        <p:nvSpPr>
          <p:cNvPr id="6" name="Source grain"/>
          <p:cNvSpPr txBox="1"/>
          <p:nvPr/>
        </p:nvSpPr>
        <p:spPr>
          <a:xfrm>
            <a:off x="2926080" y="1984248"/>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Areas (AGEB)</a:t>
            </a:r>
          </a:p>
        </p:txBody>
      </p:sp>
      <p:sp>
        <p:nvSpPr>
          <p:cNvPr id="7" name="Source use"/>
          <p:cNvSpPr txBox="1"/>
          <p:nvPr/>
        </p:nvSpPr>
        <p:spPr>
          <a:xfrm>
            <a:off x="4572000" y="1984248"/>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Population, age, activity</a:t>
            </a:r>
          </a:p>
        </p:txBody>
      </p:sp>
      <p:sp>
        <p:nvSpPr>
          <p:cNvPr id="8" name="Source DENUE 11/2024"/>
          <p:cNvSpPr/>
          <p:nvPr/>
        </p:nvSpPr>
        <p:spPr>
          <a:xfrm>
            <a:off x="548640" y="2743200"/>
            <a:ext cx="5760720" cy="73152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ource name"/>
          <p:cNvSpPr txBox="1"/>
          <p:nvPr/>
        </p:nvSpPr>
        <p:spPr>
          <a:xfrm>
            <a:off x="777240" y="2852928"/>
            <a:ext cx="2103120" cy="548640"/>
          </a:xfrm>
          <a:prstGeom prst="rect">
            <a:avLst/>
          </a:prstGeom>
          <a:noFill/>
        </p:spPr>
        <p:txBody>
          <a:bodyPr wrap="square" anchor="ctr" lIns="0" rIns="0" tIns="0" bIns="0">
            <a:spAutoFit/>
          </a:bodyPr>
          <a:lstStyle/>
          <a:p>
            <a:pPr algn="l">
              <a:spcAft>
                <a:spcPts val="0"/>
              </a:spcAft>
            </a:pPr>
            <a:r>
              <a:rPr sz="1600" b="1">
                <a:solidFill>
                  <a:srgbClr val="1D232B"/>
                </a:solidFill>
                <a:latin typeface="Calibri"/>
              </a:rPr>
              <a:t>DENUE 11/2024</a:t>
            </a:r>
          </a:p>
        </p:txBody>
      </p:sp>
      <p:sp>
        <p:nvSpPr>
          <p:cNvPr id="10" name="Source grain"/>
          <p:cNvSpPr txBox="1"/>
          <p:nvPr/>
        </p:nvSpPr>
        <p:spPr>
          <a:xfrm>
            <a:off x="2926080" y="2852928"/>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458,228 points</a:t>
            </a:r>
          </a:p>
        </p:txBody>
      </p:sp>
      <p:sp>
        <p:nvSpPr>
          <p:cNvPr id="11" name="Source use"/>
          <p:cNvSpPr txBox="1"/>
          <p:nvPr/>
        </p:nvSpPr>
        <p:spPr>
          <a:xfrm>
            <a:off x="4572000" y="2852928"/>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Businesses by SCIAN</a:t>
            </a:r>
          </a:p>
        </p:txBody>
      </p:sp>
      <p:sp>
        <p:nvSpPr>
          <p:cNvPr id="12" name="Source FGJ crime 2024"/>
          <p:cNvSpPr/>
          <p:nvPr/>
        </p:nvSpPr>
        <p:spPr>
          <a:xfrm>
            <a:off x="548640" y="3611879"/>
            <a:ext cx="5760720" cy="73152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ource name"/>
          <p:cNvSpPr txBox="1"/>
          <p:nvPr/>
        </p:nvSpPr>
        <p:spPr>
          <a:xfrm>
            <a:off x="777240" y="3721607"/>
            <a:ext cx="2103120" cy="548640"/>
          </a:xfrm>
          <a:prstGeom prst="rect">
            <a:avLst/>
          </a:prstGeom>
          <a:noFill/>
        </p:spPr>
        <p:txBody>
          <a:bodyPr wrap="square" anchor="ctr" lIns="0" rIns="0" tIns="0" bIns="0">
            <a:spAutoFit/>
          </a:bodyPr>
          <a:lstStyle/>
          <a:p>
            <a:pPr algn="l">
              <a:spcAft>
                <a:spcPts val="0"/>
              </a:spcAft>
            </a:pPr>
            <a:r>
              <a:rPr sz="1600" b="1">
                <a:solidFill>
                  <a:srgbClr val="1D232B"/>
                </a:solidFill>
                <a:latin typeface="Calibri"/>
              </a:rPr>
              <a:t>FGJ crime 2024</a:t>
            </a:r>
          </a:p>
        </p:txBody>
      </p:sp>
      <p:sp>
        <p:nvSpPr>
          <p:cNvPr id="14" name="Source grain"/>
          <p:cNvSpPr txBox="1"/>
          <p:nvPr/>
        </p:nvSpPr>
        <p:spPr>
          <a:xfrm>
            <a:off x="2926080" y="3721607"/>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198,007 located points</a:t>
            </a:r>
          </a:p>
        </p:txBody>
      </p:sp>
      <p:sp>
        <p:nvSpPr>
          <p:cNvPr id="15" name="Source use"/>
          <p:cNvSpPr txBox="1"/>
          <p:nvPr/>
        </p:nvSpPr>
        <p:spPr>
          <a:xfrm>
            <a:off x="4572000" y="3721607"/>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Crime by type and time</a:t>
            </a:r>
          </a:p>
        </p:txBody>
      </p:sp>
      <p:sp>
        <p:nvSpPr>
          <p:cNvPr id="16" name="Source Marco Geoestadistico"/>
          <p:cNvSpPr/>
          <p:nvPr/>
        </p:nvSpPr>
        <p:spPr>
          <a:xfrm>
            <a:off x="548640" y="4480559"/>
            <a:ext cx="5760720" cy="73152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ource name"/>
          <p:cNvSpPr txBox="1"/>
          <p:nvPr/>
        </p:nvSpPr>
        <p:spPr>
          <a:xfrm>
            <a:off x="777240" y="4590288"/>
            <a:ext cx="2103120" cy="548640"/>
          </a:xfrm>
          <a:prstGeom prst="rect">
            <a:avLst/>
          </a:prstGeom>
          <a:noFill/>
        </p:spPr>
        <p:txBody>
          <a:bodyPr wrap="square" anchor="ctr" lIns="0" rIns="0" tIns="0" bIns="0">
            <a:spAutoFit/>
          </a:bodyPr>
          <a:lstStyle/>
          <a:p>
            <a:pPr algn="l">
              <a:spcAft>
                <a:spcPts val="0"/>
              </a:spcAft>
            </a:pPr>
            <a:r>
              <a:rPr sz="1600" b="1">
                <a:solidFill>
                  <a:srgbClr val="1D232B"/>
                </a:solidFill>
                <a:latin typeface="Calibri"/>
              </a:rPr>
              <a:t>Marco Geoestadistico</a:t>
            </a:r>
          </a:p>
        </p:txBody>
      </p:sp>
      <p:sp>
        <p:nvSpPr>
          <p:cNvPr id="18" name="Source grain"/>
          <p:cNvSpPr txBox="1"/>
          <p:nvPr/>
        </p:nvSpPr>
        <p:spPr>
          <a:xfrm>
            <a:off x="2926080" y="4590288"/>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2,431 AGEB polygons</a:t>
            </a:r>
          </a:p>
        </p:txBody>
      </p:sp>
      <p:sp>
        <p:nvSpPr>
          <p:cNvPr id="19" name="Source use"/>
          <p:cNvSpPr txBox="1"/>
          <p:nvPr/>
        </p:nvSpPr>
        <p:spPr>
          <a:xfrm>
            <a:off x="4572000" y="4590288"/>
            <a:ext cx="1645920" cy="548640"/>
          </a:xfrm>
          <a:prstGeom prst="rect">
            <a:avLst/>
          </a:prstGeom>
          <a:noFill/>
        </p:spPr>
        <p:txBody>
          <a:bodyPr wrap="square" anchor="ctr" lIns="0" rIns="0" tIns="0" bIns="0">
            <a:spAutoFit/>
          </a:bodyPr>
          <a:lstStyle/>
          <a:p>
            <a:pPr algn="l">
              <a:spcAft>
                <a:spcPts val="0"/>
              </a:spcAft>
            </a:pPr>
            <a:r>
              <a:rPr sz="1300" b="0">
                <a:solidFill>
                  <a:srgbClr val="5B6570"/>
                </a:solidFill>
                <a:latin typeface="Calibri"/>
              </a:rPr>
              <a:t>The geographic unit</a:t>
            </a:r>
          </a:p>
        </p:txBody>
      </p:sp>
      <p:sp>
        <p:nvSpPr>
          <p:cNvPr id="20" name="Right heading"/>
          <p:cNvSpPr txBox="1"/>
          <p:nvPr/>
        </p:nvSpPr>
        <p:spPr>
          <a:xfrm>
            <a:off x="6858000" y="1417320"/>
            <a:ext cx="4846320" cy="365760"/>
          </a:xfrm>
          <a:prstGeom prst="rect">
            <a:avLst/>
          </a:prstGeom>
          <a:noFill/>
        </p:spPr>
        <p:txBody>
          <a:bodyPr wrap="square" anchor="t" lIns="0" rIns="0" tIns="0" bIns="0">
            <a:spAutoFit/>
          </a:bodyPr>
          <a:lstStyle/>
          <a:p>
            <a:pPr algn="l">
              <a:spcAft>
                <a:spcPts val="0"/>
              </a:spcAft>
            </a:pPr>
            <a:r>
              <a:rPr sz="1600" b="1">
                <a:solidFill>
                  <a:srgbClr val="2A78D6"/>
                </a:solidFill>
                <a:latin typeface="Calibri"/>
              </a:rPr>
              <a:t>Candidate units compared</a:t>
            </a:r>
          </a:p>
        </p:txBody>
      </p:sp>
      <p:sp>
        <p:nvSpPr>
          <p:cNvPr id="21" name="Unit Alcaldias"/>
          <p:cNvSpPr/>
          <p:nvPr/>
        </p:nvSpPr>
        <p:spPr>
          <a:xfrm>
            <a:off x="6858000" y="1874519"/>
            <a:ext cx="4800600" cy="82296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Unit count"/>
          <p:cNvSpPr txBox="1"/>
          <p:nvPr/>
        </p:nvSpPr>
        <p:spPr>
          <a:xfrm>
            <a:off x="7086600" y="1965960"/>
            <a:ext cx="1463040" cy="640080"/>
          </a:xfrm>
          <a:prstGeom prst="rect">
            <a:avLst/>
          </a:prstGeom>
          <a:noFill/>
        </p:spPr>
        <p:txBody>
          <a:bodyPr wrap="square" anchor="ctr" lIns="0" rIns="0" tIns="0" bIns="0">
            <a:spAutoFit/>
          </a:bodyPr>
          <a:lstStyle/>
          <a:p>
            <a:pPr algn="l">
              <a:spcAft>
                <a:spcPts val="0"/>
              </a:spcAft>
            </a:pPr>
            <a:r>
              <a:rPr sz="2600" b="1">
                <a:solidFill>
                  <a:srgbClr val="2A78D6"/>
                </a:solidFill>
                <a:latin typeface="Calibri"/>
              </a:rPr>
              <a:t>16</a:t>
            </a:r>
          </a:p>
        </p:txBody>
      </p:sp>
      <p:sp>
        <p:nvSpPr>
          <p:cNvPr id="23" name="Unit text"/>
          <p:cNvSpPr txBox="1"/>
          <p:nvPr/>
        </p:nvSpPr>
        <p:spPr>
          <a:xfrm>
            <a:off x="8595360" y="1965960"/>
            <a:ext cx="2926080" cy="640080"/>
          </a:xfrm>
          <a:prstGeom prst="rect">
            <a:avLst/>
          </a:prstGeom>
          <a:noFill/>
        </p:spPr>
        <p:txBody>
          <a:bodyPr wrap="square" anchor="ctr" lIns="0" rIns="0" tIns="0" bIns="0">
            <a:spAutoFit/>
          </a:bodyPr>
          <a:lstStyle/>
          <a:p>
            <a:pPr algn="l">
              <a:spcAft>
                <a:spcPts val="0"/>
              </a:spcAft>
            </a:pPr>
            <a:r>
              <a:rPr sz="1500" b="1">
                <a:solidFill>
                  <a:srgbClr val="1D232B"/>
                </a:solidFill>
                <a:latin typeface="Calibri"/>
              </a:rPr>
              <a:t>Alcaldias</a:t>
            </a:r>
          </a:p>
          <a:p>
            <a:pPr algn="l">
              <a:spcAft>
                <a:spcPts val="0"/>
              </a:spcAft>
            </a:pPr>
            <a:r>
              <a:rPr sz="1200" b="0">
                <a:solidFill>
                  <a:srgbClr val="5B6570"/>
                </a:solidFill>
                <a:latin typeface="Calibri"/>
              </a:rPr>
              <a:t>too coarse for spatial statistics</a:t>
            </a:r>
          </a:p>
        </p:txBody>
      </p:sp>
      <p:sp>
        <p:nvSpPr>
          <p:cNvPr id="24" name="Unit Urban AGEB"/>
          <p:cNvSpPr/>
          <p:nvPr/>
        </p:nvSpPr>
        <p:spPr>
          <a:xfrm>
            <a:off x="6858000" y="2834639"/>
            <a:ext cx="4800600" cy="822960"/>
          </a:xfrm>
          <a:prstGeom prst="roundRect">
            <a:avLst>
              <a:gd name="adj" fmla="val 6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nit count"/>
          <p:cNvSpPr txBox="1"/>
          <p:nvPr/>
        </p:nvSpPr>
        <p:spPr>
          <a:xfrm>
            <a:off x="7086600" y="2926079"/>
            <a:ext cx="1463040" cy="640080"/>
          </a:xfrm>
          <a:prstGeom prst="rect">
            <a:avLst/>
          </a:prstGeom>
          <a:noFill/>
        </p:spPr>
        <p:txBody>
          <a:bodyPr wrap="square" anchor="ctr" lIns="0" rIns="0" tIns="0" bIns="0">
            <a:spAutoFit/>
          </a:bodyPr>
          <a:lstStyle/>
          <a:p>
            <a:pPr algn="l">
              <a:spcAft>
                <a:spcPts val="0"/>
              </a:spcAft>
            </a:pPr>
            <a:r>
              <a:rPr sz="2600" b="1">
                <a:solidFill>
                  <a:srgbClr val="E0731C"/>
                </a:solidFill>
                <a:latin typeface="Calibri"/>
              </a:rPr>
              <a:t>2,431</a:t>
            </a:r>
          </a:p>
        </p:txBody>
      </p:sp>
      <p:sp>
        <p:nvSpPr>
          <p:cNvPr id="26" name="Unit text"/>
          <p:cNvSpPr txBox="1"/>
          <p:nvPr/>
        </p:nvSpPr>
        <p:spPr>
          <a:xfrm>
            <a:off x="8595360" y="2926079"/>
            <a:ext cx="2926080" cy="640080"/>
          </a:xfrm>
          <a:prstGeom prst="rect">
            <a:avLst/>
          </a:prstGeom>
          <a:noFill/>
        </p:spPr>
        <p:txBody>
          <a:bodyPr wrap="square" anchor="ctr" lIns="0" rIns="0" tIns="0" bIns="0">
            <a:spAutoFit/>
          </a:bodyPr>
          <a:lstStyle/>
          <a:p>
            <a:pPr algn="l">
              <a:spcAft>
                <a:spcPts val="0"/>
              </a:spcAft>
            </a:pPr>
            <a:r>
              <a:rPr sz="1500" b="1">
                <a:solidFill>
                  <a:srgbClr val="FFFFFF"/>
                </a:solidFill>
                <a:latin typeface="Calibri"/>
              </a:rPr>
              <a:t>Urban AGEB</a:t>
            </a:r>
          </a:p>
          <a:p>
            <a:pPr algn="l">
              <a:spcAft>
                <a:spcPts val="0"/>
              </a:spcAft>
            </a:pPr>
            <a:r>
              <a:rPr sz="1200" b="0">
                <a:solidFill>
                  <a:srgbClr val="C9D6E8"/>
                </a:solidFill>
                <a:latin typeface="Calibri"/>
              </a:rPr>
              <a:t>official polygons, full Census indicators</a:t>
            </a:r>
          </a:p>
        </p:txBody>
      </p:sp>
      <p:sp>
        <p:nvSpPr>
          <p:cNvPr id="27" name="Unit Blocks"/>
          <p:cNvSpPr/>
          <p:nvPr/>
        </p:nvSpPr>
        <p:spPr>
          <a:xfrm>
            <a:off x="6858000" y="3794760"/>
            <a:ext cx="4800600" cy="82296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Unit count"/>
          <p:cNvSpPr txBox="1"/>
          <p:nvPr/>
        </p:nvSpPr>
        <p:spPr>
          <a:xfrm>
            <a:off x="7086600" y="3886200"/>
            <a:ext cx="1463040" cy="640080"/>
          </a:xfrm>
          <a:prstGeom prst="rect">
            <a:avLst/>
          </a:prstGeom>
          <a:noFill/>
        </p:spPr>
        <p:txBody>
          <a:bodyPr wrap="square" anchor="ctr" lIns="0" rIns="0" tIns="0" bIns="0">
            <a:spAutoFit/>
          </a:bodyPr>
          <a:lstStyle/>
          <a:p>
            <a:pPr algn="l">
              <a:spcAft>
                <a:spcPts val="0"/>
              </a:spcAft>
            </a:pPr>
            <a:r>
              <a:rPr sz="2600" b="1">
                <a:solidFill>
                  <a:srgbClr val="2A78D6"/>
                </a:solidFill>
                <a:latin typeface="Calibri"/>
              </a:rPr>
              <a:t>66,456</a:t>
            </a:r>
          </a:p>
        </p:txBody>
      </p:sp>
      <p:sp>
        <p:nvSpPr>
          <p:cNvPr id="29" name="Unit text"/>
          <p:cNvSpPr txBox="1"/>
          <p:nvPr/>
        </p:nvSpPr>
        <p:spPr>
          <a:xfrm>
            <a:off x="8595360" y="3886200"/>
            <a:ext cx="2926080" cy="640080"/>
          </a:xfrm>
          <a:prstGeom prst="rect">
            <a:avLst/>
          </a:prstGeom>
          <a:noFill/>
        </p:spPr>
        <p:txBody>
          <a:bodyPr wrap="square" anchor="ctr" lIns="0" rIns="0" tIns="0" bIns="0">
            <a:spAutoFit/>
          </a:bodyPr>
          <a:lstStyle/>
          <a:p>
            <a:pPr algn="l">
              <a:spcAft>
                <a:spcPts val="0"/>
              </a:spcAft>
            </a:pPr>
            <a:r>
              <a:rPr sz="1500" b="1">
                <a:solidFill>
                  <a:srgbClr val="1D232B"/>
                </a:solidFill>
                <a:latin typeface="Calibri"/>
              </a:rPr>
              <a:t>Blocks</a:t>
            </a:r>
          </a:p>
          <a:p>
            <a:pPr algn="l">
              <a:spcAft>
                <a:spcPts val="0"/>
              </a:spcAft>
            </a:pPr>
            <a:r>
              <a:rPr sz="1200" b="0">
                <a:solidFill>
                  <a:srgbClr val="5B6570"/>
                </a:solidFill>
                <a:latin typeface="Calibri"/>
              </a:rPr>
              <a:t>too fine, many values suppressed</a:t>
            </a:r>
          </a:p>
        </p:txBody>
      </p:sp>
      <p:sp>
        <p:nvSpPr>
          <p:cNvPr id="30" name="Integration result"/>
          <p:cNvSpPr/>
          <p:nvPr/>
        </p:nvSpPr>
        <p:spPr>
          <a:xfrm>
            <a:off x="548640" y="5440680"/>
            <a:ext cx="11109960" cy="96012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tegration text"/>
          <p:cNvSpPr txBox="1"/>
          <p:nvPr/>
        </p:nvSpPr>
        <p:spPr>
          <a:xfrm>
            <a:off x="777240" y="5532120"/>
            <a:ext cx="10698480" cy="777240"/>
          </a:xfrm>
          <a:prstGeom prst="rect">
            <a:avLst/>
          </a:prstGeom>
          <a:noFill/>
        </p:spPr>
        <p:txBody>
          <a:bodyPr wrap="square" anchor="ctr" lIns="0" rIns="0" tIns="0" bIns="0">
            <a:spAutoFit/>
          </a:bodyPr>
          <a:lstStyle/>
          <a:p>
            <a:pPr algn="l">
              <a:spcAft>
                <a:spcPts val="0"/>
              </a:spcAft>
            </a:pPr>
            <a:r>
              <a:rPr sz="2200" b="1">
                <a:solidFill>
                  <a:srgbClr val="2A78D6"/>
                </a:solidFill>
                <a:latin typeface="Calibri"/>
              </a:rPr>
              <a:t>99.7% </a:t>
            </a:r>
            <a:r>
              <a:rPr sz="1600" b="0">
                <a:solidFill>
                  <a:srgbClr val="1D232B"/>
                </a:solidFill>
                <a:latin typeface="Calibri"/>
              </a:rPr>
              <a:t>of crime points and of establishments land in exactly one AGEB by spatial join, none in two. </a:t>
            </a:r>
            <a:r>
              <a:rPr sz="1600" b="0">
                <a:solidFill>
                  <a:srgbClr val="5B6570"/>
                </a:solidFill>
                <a:latin typeface="Calibri"/>
              </a:rPr>
              <a:t>The DENUE AGEB code agrees with the join for 99.8%.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t" lIns="0" rIns="0" tIns="0" bIns="0">
            <a:spAutoFit/>
          </a:bodyPr>
          <a:lstStyle/>
          <a:p>
            <a:pPr algn="l">
              <a:spcAft>
                <a:spcPts val="0"/>
              </a:spcAft>
            </a:pPr>
            <a:r>
              <a:rPr sz="3000" b="1">
                <a:solidFill>
                  <a:srgbClr val="1D232B"/>
                </a:solidFill>
                <a:latin typeface="Calibri"/>
              </a:rPr>
              <a:t>A star schema in PostGIS computes every KPI with SQL</a:t>
            </a:r>
          </a:p>
        </p:txBody>
      </p:sp>
      <p:pic>
        <p:nvPicPr>
          <p:cNvPr id="3" name="Warehouse model diagram" descr="warehouse_model.png"/>
          <p:cNvPicPr>
            <a:picLocks noChangeAspect="1"/>
          </p:cNvPicPr>
          <p:nvPr/>
        </p:nvPicPr>
        <p:blipFill>
          <a:blip r:embed="rId2"/>
          <a:stretch>
            <a:fillRect/>
          </a:stretch>
        </p:blipFill>
        <p:spPr>
          <a:xfrm>
            <a:off x="548640" y="1280160"/>
            <a:ext cx="4827964" cy="5212080"/>
          </a:xfrm>
          <a:prstGeom prst="rect">
            <a:avLst/>
          </a:prstGeom>
        </p:spPr>
      </p:pic>
      <p:sp>
        <p:nvSpPr>
          <p:cNvPr id="4" name="Card facts and dimensions"/>
          <p:cNvSpPr/>
          <p:nvPr/>
        </p:nvSpPr>
        <p:spPr>
          <a:xfrm>
            <a:off x="5833804" y="1325880"/>
            <a:ext cx="5809250" cy="160020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number"/>
          <p:cNvSpPr txBox="1"/>
          <p:nvPr/>
        </p:nvSpPr>
        <p:spPr>
          <a:xfrm>
            <a:off x="6062404" y="1508760"/>
            <a:ext cx="1554480" cy="731520"/>
          </a:xfrm>
          <a:prstGeom prst="rect">
            <a:avLst/>
          </a:prstGeom>
          <a:noFill/>
        </p:spPr>
        <p:txBody>
          <a:bodyPr wrap="square" anchor="t" lIns="0" rIns="0" tIns="0" bIns="0">
            <a:spAutoFit/>
          </a:bodyPr>
          <a:lstStyle/>
          <a:p>
            <a:pPr algn="l">
              <a:spcAft>
                <a:spcPts val="0"/>
              </a:spcAft>
            </a:pPr>
            <a:r>
              <a:rPr sz="3400" b="1">
                <a:solidFill>
                  <a:srgbClr val="2A78D6"/>
                </a:solidFill>
                <a:latin typeface="Calibri"/>
              </a:rPr>
              <a:t>4 + 7</a:t>
            </a:r>
          </a:p>
        </p:txBody>
      </p:sp>
      <p:sp>
        <p:nvSpPr>
          <p:cNvPr id="6" name="Card label"/>
          <p:cNvSpPr txBox="1"/>
          <p:nvPr/>
        </p:nvSpPr>
        <p:spPr>
          <a:xfrm>
            <a:off x="6062404" y="2194560"/>
            <a:ext cx="1554480" cy="640080"/>
          </a:xfrm>
          <a:prstGeom prst="rect">
            <a:avLst/>
          </a:prstGeom>
          <a:noFill/>
        </p:spPr>
        <p:txBody>
          <a:bodyPr wrap="square" anchor="t" lIns="0" rIns="0" tIns="0" bIns="0">
            <a:spAutoFit/>
          </a:bodyPr>
          <a:lstStyle/>
          <a:p>
            <a:pPr algn="l">
              <a:spcAft>
                <a:spcPts val="0"/>
              </a:spcAft>
            </a:pPr>
            <a:r>
              <a:rPr sz="1250" b="0">
                <a:solidFill>
                  <a:srgbClr val="5B6570"/>
                </a:solidFill>
                <a:latin typeface="Calibri"/>
              </a:rPr>
              <a:t>facts and dimensions</a:t>
            </a:r>
          </a:p>
        </p:txBody>
      </p:sp>
      <p:sp>
        <p:nvSpPr>
          <p:cNvPr id="7" name="Card text"/>
          <p:cNvSpPr txBox="1"/>
          <p:nvPr/>
        </p:nvSpPr>
        <p:spPr>
          <a:xfrm>
            <a:off x="7754044" y="1508760"/>
            <a:ext cx="3660410" cy="1280160"/>
          </a:xfrm>
          <a:prstGeom prst="rect">
            <a:avLst/>
          </a:prstGeom>
          <a:noFill/>
        </p:spPr>
        <p:txBody>
          <a:bodyPr wrap="square" anchor="ctr" lIns="0" rIns="0" tIns="0" bIns="0">
            <a:spAutoFit/>
          </a:bodyPr>
          <a:lstStyle/>
          <a:p>
            <a:pPr algn="l">
              <a:spcAft>
                <a:spcPts val="0"/>
              </a:spcAft>
            </a:pPr>
            <a:r>
              <a:rPr sz="1400" b="0">
                <a:solidFill>
                  <a:srgbClr val="1D232B"/>
                </a:solidFill>
                <a:latin typeface="Calibri"/>
              </a:rPr>
              <a:t>Population, age, establishment and crime facts around one AGEB dimension that stores the polygon in two coordinate systems.</a:t>
            </a:r>
          </a:p>
        </p:txBody>
      </p:sp>
      <p:sp>
        <p:nvSpPr>
          <p:cNvPr id="8" name="Card numbered ETL steps"/>
          <p:cNvSpPr/>
          <p:nvPr/>
        </p:nvSpPr>
        <p:spPr>
          <a:xfrm>
            <a:off x="5833804" y="3063239"/>
            <a:ext cx="5809250" cy="160020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number"/>
          <p:cNvSpPr txBox="1"/>
          <p:nvPr/>
        </p:nvSpPr>
        <p:spPr>
          <a:xfrm>
            <a:off x="6062404" y="3246120"/>
            <a:ext cx="1554480" cy="731520"/>
          </a:xfrm>
          <a:prstGeom prst="rect">
            <a:avLst/>
          </a:prstGeom>
          <a:noFill/>
        </p:spPr>
        <p:txBody>
          <a:bodyPr wrap="square" anchor="t" lIns="0" rIns="0" tIns="0" bIns="0">
            <a:spAutoFit/>
          </a:bodyPr>
          <a:lstStyle/>
          <a:p>
            <a:pPr algn="l">
              <a:spcAft>
                <a:spcPts val="0"/>
              </a:spcAft>
            </a:pPr>
            <a:r>
              <a:rPr sz="3400" b="1">
                <a:solidFill>
                  <a:srgbClr val="2A78D6"/>
                </a:solidFill>
                <a:latin typeface="Calibri"/>
              </a:rPr>
              <a:t>6</a:t>
            </a:r>
          </a:p>
        </p:txBody>
      </p:sp>
      <p:sp>
        <p:nvSpPr>
          <p:cNvPr id="10" name="Card label"/>
          <p:cNvSpPr txBox="1"/>
          <p:nvPr/>
        </p:nvSpPr>
        <p:spPr>
          <a:xfrm>
            <a:off x="6062404" y="3931920"/>
            <a:ext cx="1554480" cy="640080"/>
          </a:xfrm>
          <a:prstGeom prst="rect">
            <a:avLst/>
          </a:prstGeom>
          <a:noFill/>
        </p:spPr>
        <p:txBody>
          <a:bodyPr wrap="square" anchor="t" lIns="0" rIns="0" tIns="0" bIns="0">
            <a:spAutoFit/>
          </a:bodyPr>
          <a:lstStyle/>
          <a:p>
            <a:pPr algn="l">
              <a:spcAft>
                <a:spcPts val="0"/>
              </a:spcAft>
            </a:pPr>
            <a:r>
              <a:rPr sz="1250" b="0">
                <a:solidFill>
                  <a:srgbClr val="5B6570"/>
                </a:solidFill>
                <a:latin typeface="Calibri"/>
              </a:rPr>
              <a:t>numbered ETL steps</a:t>
            </a:r>
          </a:p>
        </p:txBody>
      </p:sp>
      <p:sp>
        <p:nvSpPr>
          <p:cNvPr id="11" name="Card text"/>
          <p:cNvSpPr txBox="1"/>
          <p:nvPr/>
        </p:nvSpPr>
        <p:spPr>
          <a:xfrm>
            <a:off x="7754044" y="3246120"/>
            <a:ext cx="3660410" cy="1280160"/>
          </a:xfrm>
          <a:prstGeom prst="rect">
            <a:avLst/>
          </a:prstGeom>
          <a:noFill/>
        </p:spPr>
        <p:txBody>
          <a:bodyPr wrap="square" anchor="ctr" lIns="0" rIns="0" tIns="0" bIns="0">
            <a:spAutoFit/>
          </a:bodyPr>
          <a:lstStyle/>
          <a:p>
            <a:pPr algn="l">
              <a:spcAft>
                <a:spcPts val="0"/>
              </a:spcAft>
            </a:pPr>
            <a:r>
              <a:rPr sz="1400" b="0">
                <a:solidFill>
                  <a:srgbClr val="1D232B"/>
                </a:solidFill>
                <a:latin typeface="Calibri"/>
              </a:rPr>
              <a:t>Clean, stage, then SQL: schema, load, views, validation. Raw files are never modified and the load can be re-run.</a:t>
            </a:r>
          </a:p>
        </p:txBody>
      </p:sp>
      <p:sp>
        <p:nvSpPr>
          <p:cNvPr id="12" name="Card KPIs in one view"/>
          <p:cNvSpPr/>
          <p:nvPr/>
        </p:nvSpPr>
        <p:spPr>
          <a:xfrm>
            <a:off x="5833804" y="4800600"/>
            <a:ext cx="5809250" cy="160020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 number"/>
          <p:cNvSpPr txBox="1"/>
          <p:nvPr/>
        </p:nvSpPr>
        <p:spPr>
          <a:xfrm>
            <a:off x="6062404" y="4983480"/>
            <a:ext cx="1554480" cy="731520"/>
          </a:xfrm>
          <a:prstGeom prst="rect">
            <a:avLst/>
          </a:prstGeom>
          <a:noFill/>
        </p:spPr>
        <p:txBody>
          <a:bodyPr wrap="square" anchor="t" lIns="0" rIns="0" tIns="0" bIns="0">
            <a:spAutoFit/>
          </a:bodyPr>
          <a:lstStyle/>
          <a:p>
            <a:pPr algn="l">
              <a:spcAft>
                <a:spcPts val="0"/>
              </a:spcAft>
            </a:pPr>
            <a:r>
              <a:rPr sz="3400" b="1">
                <a:solidFill>
                  <a:srgbClr val="2A78D6"/>
                </a:solidFill>
                <a:latin typeface="Calibri"/>
              </a:rPr>
              <a:t>14</a:t>
            </a:r>
          </a:p>
        </p:txBody>
      </p:sp>
      <p:sp>
        <p:nvSpPr>
          <p:cNvPr id="14" name="Card label"/>
          <p:cNvSpPr txBox="1"/>
          <p:nvPr/>
        </p:nvSpPr>
        <p:spPr>
          <a:xfrm>
            <a:off x="6062404" y="5669280"/>
            <a:ext cx="1554480" cy="640080"/>
          </a:xfrm>
          <a:prstGeom prst="rect">
            <a:avLst/>
          </a:prstGeom>
          <a:noFill/>
        </p:spPr>
        <p:txBody>
          <a:bodyPr wrap="square" anchor="t" lIns="0" rIns="0" tIns="0" bIns="0">
            <a:spAutoFit/>
          </a:bodyPr>
          <a:lstStyle/>
          <a:p>
            <a:pPr algn="l">
              <a:spcAft>
                <a:spcPts val="0"/>
              </a:spcAft>
            </a:pPr>
            <a:r>
              <a:rPr sz="1250" b="0">
                <a:solidFill>
                  <a:srgbClr val="5B6570"/>
                </a:solidFill>
                <a:latin typeface="Calibri"/>
              </a:rPr>
              <a:t>KPIs in one view</a:t>
            </a:r>
          </a:p>
        </p:txBody>
      </p:sp>
      <p:sp>
        <p:nvSpPr>
          <p:cNvPr id="15" name="Card text"/>
          <p:cNvSpPr txBox="1"/>
          <p:nvPr/>
        </p:nvSpPr>
        <p:spPr>
          <a:xfrm>
            <a:off x="7754044" y="4983480"/>
            <a:ext cx="3660410" cy="1280160"/>
          </a:xfrm>
          <a:prstGeom prst="rect">
            <a:avLst/>
          </a:prstGeom>
          <a:noFill/>
        </p:spPr>
        <p:txBody>
          <a:bodyPr wrap="square" anchor="ctr" lIns="0" rIns="0" tIns="0" bIns="0">
            <a:spAutoFit/>
          </a:bodyPr>
          <a:lstStyle/>
          <a:p>
            <a:pPr algn="l">
              <a:spcAft>
                <a:spcPts val="0"/>
              </a:spcAft>
            </a:pPr>
            <a:r>
              <a:rPr sz="1400" b="0">
                <a:solidFill>
                  <a:srgbClr val="1D232B"/>
                </a:solidFill>
                <a:latin typeface="Calibri"/>
              </a:rPr>
              <a:t>dw.vw_ageb_kpis plus a crime-by-type-and-time view; 11 integrity checks stop the pipeline if anything does not reconcile.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t" lIns="0" rIns="0" tIns="0" bIns="0">
            <a:spAutoFit/>
          </a:bodyPr>
          <a:lstStyle/>
          <a:p>
            <a:pPr algn="l">
              <a:spcAft>
                <a:spcPts val="0"/>
              </a:spcAft>
            </a:pPr>
            <a:r>
              <a:rPr sz="3000" b="1">
                <a:solidFill>
                  <a:srgbClr val="1D232B"/>
                </a:solidFill>
                <a:latin typeface="Calibri"/>
              </a:rPr>
              <a:t>Crime clusters in the centre, and business density helps locate it</a:t>
            </a:r>
          </a:p>
        </p:txBody>
      </p:sp>
      <p:pic>
        <p:nvPicPr>
          <p:cNvPr id="3" name="LISA crime map" descr="map_lisa_crime_rate.png"/>
          <p:cNvPicPr>
            <a:picLocks noChangeAspect="1"/>
          </p:cNvPicPr>
          <p:nvPr/>
        </p:nvPicPr>
        <p:blipFill>
          <a:blip r:embed="rId2"/>
          <a:stretch>
            <a:fillRect/>
          </a:stretch>
        </p:blipFill>
        <p:spPr>
          <a:xfrm>
            <a:off x="548640" y="1371600"/>
            <a:ext cx="3888627" cy="5074920"/>
          </a:xfrm>
          <a:prstGeom prst="rect">
            <a:avLst/>
          </a:prstGeom>
        </p:spPr>
      </p:pic>
      <p:sp>
        <p:nvSpPr>
          <p:cNvPr id="4" name="Chart heading"/>
          <p:cNvSpPr txBox="1"/>
          <p:nvPr/>
        </p:nvSpPr>
        <p:spPr>
          <a:xfrm>
            <a:off x="4848747" y="1371600"/>
            <a:ext cx="6794307" cy="365760"/>
          </a:xfrm>
          <a:prstGeom prst="rect">
            <a:avLst/>
          </a:prstGeom>
          <a:noFill/>
        </p:spPr>
        <p:txBody>
          <a:bodyPr wrap="square" anchor="t" lIns="0" rIns="0" tIns="0" bIns="0">
            <a:spAutoFit/>
          </a:bodyPr>
          <a:lstStyle/>
          <a:p>
            <a:pPr algn="l">
              <a:spcAft>
                <a:spcPts val="0"/>
              </a:spcAft>
            </a:pPr>
            <a:r>
              <a:rPr sz="1400" b="1">
                <a:solidFill>
                  <a:srgbClr val="2A78D6"/>
                </a:solidFill>
                <a:latin typeface="Calibri"/>
              </a:rPr>
              <a:t>Global Moran's I (Queen contiguity, 999 permutations, all p = 0.001)</a:t>
            </a:r>
          </a:p>
        </p:txBody>
      </p:sp>
      <p:graphicFrame>
        <p:nvGraphicFramePr>
          <p:cNvPr id="5" name="Moran bar chart"/>
          <p:cNvGraphicFramePr>
            <a:graphicFrameLocks noGrp="1"/>
          </p:cNvGraphicFramePr>
          <p:nvPr/>
        </p:nvGraphicFramePr>
        <p:xfrm>
          <a:off x="4848747" y="1737360"/>
          <a:ext cx="6794307" cy="2240280"/>
        </p:xfrm>
        <a:graphic>
          <a:graphicData uri="http://schemas.openxmlformats.org/drawingml/2006/chart">
            <c:chart xmlns:c="http://schemas.openxmlformats.org/drawingml/2006/chart" r:id="rId3"/>
          </a:graphicData>
        </a:graphic>
      </p:graphicFrame>
      <p:sp>
        <p:nvSpPr>
          <p:cNvPr id="6" name="Stat hot spots and 191 co"/>
          <p:cNvSpPr/>
          <p:nvPr/>
        </p:nvSpPr>
        <p:spPr>
          <a:xfrm>
            <a:off x="4848747" y="4206240"/>
            <a:ext cx="2142849" cy="132588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number"/>
          <p:cNvSpPr txBox="1"/>
          <p:nvPr/>
        </p:nvSpPr>
        <p:spPr>
          <a:xfrm>
            <a:off x="5031627" y="4315968"/>
            <a:ext cx="1777089" cy="685800"/>
          </a:xfrm>
          <a:prstGeom prst="rect">
            <a:avLst/>
          </a:prstGeom>
          <a:noFill/>
        </p:spPr>
        <p:txBody>
          <a:bodyPr wrap="square" anchor="t" lIns="0" rIns="0" tIns="0" bIns="0">
            <a:spAutoFit/>
          </a:bodyPr>
          <a:lstStyle/>
          <a:p>
            <a:pPr algn="l">
              <a:spcAft>
                <a:spcPts val="0"/>
              </a:spcAft>
            </a:pPr>
            <a:r>
              <a:rPr sz="3400" b="1">
                <a:solidFill>
                  <a:srgbClr val="E0731C"/>
                </a:solidFill>
                <a:latin typeface="Calibri"/>
              </a:rPr>
              <a:t>248</a:t>
            </a:r>
          </a:p>
        </p:txBody>
      </p:sp>
      <p:sp>
        <p:nvSpPr>
          <p:cNvPr id="8" name="Stat label"/>
          <p:cNvSpPr txBox="1"/>
          <p:nvPr/>
        </p:nvSpPr>
        <p:spPr>
          <a:xfrm>
            <a:off x="5031627" y="5010912"/>
            <a:ext cx="1777089" cy="457200"/>
          </a:xfrm>
          <a:prstGeom prst="rect">
            <a:avLst/>
          </a:prstGeom>
          <a:noFill/>
        </p:spPr>
        <p:txBody>
          <a:bodyPr wrap="square" anchor="t" lIns="0" rIns="0" tIns="0" bIns="0">
            <a:spAutoFit/>
          </a:bodyPr>
          <a:lstStyle/>
          <a:p>
            <a:pPr algn="l">
              <a:spcAft>
                <a:spcPts val="0"/>
              </a:spcAft>
            </a:pPr>
            <a:r>
              <a:rPr sz="1300" b="0">
                <a:solidFill>
                  <a:srgbClr val="5B6570"/>
                </a:solidFill>
                <a:latin typeface="Calibri"/>
              </a:rPr>
              <a:t>hot spots and 191 cold spots (LISA)</a:t>
            </a:r>
          </a:p>
        </p:txBody>
      </p:sp>
      <p:sp>
        <p:nvSpPr>
          <p:cNvPr id="9" name="Stat bivariate Moran, bus"/>
          <p:cNvSpPr/>
          <p:nvPr/>
        </p:nvSpPr>
        <p:spPr>
          <a:xfrm>
            <a:off x="7174476" y="4206240"/>
            <a:ext cx="2142849" cy="132588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number"/>
          <p:cNvSpPr txBox="1"/>
          <p:nvPr/>
        </p:nvSpPr>
        <p:spPr>
          <a:xfrm>
            <a:off x="7357356" y="4315968"/>
            <a:ext cx="1777089" cy="685800"/>
          </a:xfrm>
          <a:prstGeom prst="rect">
            <a:avLst/>
          </a:prstGeom>
          <a:noFill/>
        </p:spPr>
        <p:txBody>
          <a:bodyPr wrap="square" anchor="t" lIns="0" rIns="0" tIns="0" bIns="0">
            <a:spAutoFit/>
          </a:bodyPr>
          <a:lstStyle/>
          <a:p>
            <a:pPr algn="l">
              <a:spcAft>
                <a:spcPts val="0"/>
              </a:spcAft>
            </a:pPr>
            <a:r>
              <a:rPr sz="3400" b="1">
                <a:solidFill>
                  <a:srgbClr val="2A78D6"/>
                </a:solidFill>
                <a:latin typeface="Calibri"/>
              </a:rPr>
              <a:t>0.19</a:t>
            </a:r>
          </a:p>
        </p:txBody>
      </p:sp>
      <p:sp>
        <p:nvSpPr>
          <p:cNvPr id="11" name="Stat label"/>
          <p:cNvSpPr txBox="1"/>
          <p:nvPr/>
        </p:nvSpPr>
        <p:spPr>
          <a:xfrm>
            <a:off x="7357356" y="5010912"/>
            <a:ext cx="1777089" cy="457200"/>
          </a:xfrm>
          <a:prstGeom prst="rect">
            <a:avLst/>
          </a:prstGeom>
          <a:noFill/>
        </p:spPr>
        <p:txBody>
          <a:bodyPr wrap="square" anchor="t" lIns="0" rIns="0" tIns="0" bIns="0">
            <a:spAutoFit/>
          </a:bodyPr>
          <a:lstStyle/>
          <a:p>
            <a:pPr algn="l">
              <a:spcAft>
                <a:spcPts val="0"/>
              </a:spcAft>
            </a:pPr>
            <a:r>
              <a:rPr sz="1300" b="0">
                <a:solidFill>
                  <a:srgbClr val="5B6570"/>
                </a:solidFill>
                <a:latin typeface="Calibri"/>
              </a:rPr>
              <a:t>bivariate Moran, business vs nearby crime</a:t>
            </a:r>
          </a:p>
        </p:txBody>
      </p:sp>
      <p:sp>
        <p:nvSpPr>
          <p:cNvPr id="12" name="Stat Spearman, crime vs b"/>
          <p:cNvSpPr/>
          <p:nvPr/>
        </p:nvSpPr>
        <p:spPr>
          <a:xfrm>
            <a:off x="9500205" y="4206240"/>
            <a:ext cx="2142849" cy="132588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number"/>
          <p:cNvSpPr txBox="1"/>
          <p:nvPr/>
        </p:nvSpPr>
        <p:spPr>
          <a:xfrm>
            <a:off x="9683085" y="4315968"/>
            <a:ext cx="1777089" cy="685800"/>
          </a:xfrm>
          <a:prstGeom prst="rect">
            <a:avLst/>
          </a:prstGeom>
          <a:noFill/>
        </p:spPr>
        <p:txBody>
          <a:bodyPr wrap="square" anchor="t" lIns="0" rIns="0" tIns="0" bIns="0">
            <a:spAutoFit/>
          </a:bodyPr>
          <a:lstStyle/>
          <a:p>
            <a:pPr algn="l">
              <a:spcAft>
                <a:spcPts val="0"/>
              </a:spcAft>
            </a:pPr>
            <a:r>
              <a:rPr sz="3400" b="1">
                <a:solidFill>
                  <a:srgbClr val="2A78D6"/>
                </a:solidFill>
                <a:latin typeface="Calibri"/>
              </a:rPr>
              <a:t>0.28</a:t>
            </a:r>
          </a:p>
        </p:txBody>
      </p:sp>
      <p:sp>
        <p:nvSpPr>
          <p:cNvPr id="14" name="Stat label"/>
          <p:cNvSpPr txBox="1"/>
          <p:nvPr/>
        </p:nvSpPr>
        <p:spPr>
          <a:xfrm>
            <a:off x="9683085" y="5010912"/>
            <a:ext cx="1777089" cy="457200"/>
          </a:xfrm>
          <a:prstGeom prst="rect">
            <a:avLst/>
          </a:prstGeom>
          <a:noFill/>
        </p:spPr>
        <p:txBody>
          <a:bodyPr wrap="square" anchor="t" lIns="0" rIns="0" tIns="0" bIns="0">
            <a:spAutoFit/>
          </a:bodyPr>
          <a:lstStyle/>
          <a:p>
            <a:pPr algn="l">
              <a:spcAft>
                <a:spcPts val="0"/>
              </a:spcAft>
            </a:pPr>
            <a:r>
              <a:rPr sz="1300" b="0">
                <a:solidFill>
                  <a:srgbClr val="5B6570"/>
                </a:solidFill>
                <a:latin typeface="Calibri"/>
              </a:rPr>
              <a:t>Spearman, crime vs business density</a:t>
            </a:r>
          </a:p>
        </p:txBody>
      </p:sp>
      <p:sp>
        <p:nvSpPr>
          <p:cNvPr id="15" name="Takeaway"/>
          <p:cNvSpPr txBox="1"/>
          <p:nvPr/>
        </p:nvSpPr>
        <p:spPr>
          <a:xfrm>
            <a:off x="4848747" y="5715000"/>
            <a:ext cx="6794307" cy="822960"/>
          </a:xfrm>
          <a:prstGeom prst="rect">
            <a:avLst/>
          </a:prstGeom>
          <a:noFill/>
        </p:spPr>
        <p:txBody>
          <a:bodyPr wrap="square" anchor="t" lIns="0" rIns="0" tIns="0" bIns="0">
            <a:spAutoFit/>
          </a:bodyPr>
          <a:lstStyle/>
          <a:p>
            <a:pPr algn="l">
              <a:spcAft>
                <a:spcPts val="0"/>
              </a:spcAft>
            </a:pPr>
            <a:r>
              <a:rPr sz="1300" b="0">
                <a:solidFill>
                  <a:srgbClr val="5B6570"/>
                </a:solidFill>
                <a:latin typeface="Calibri"/>
              </a:rPr>
              <a:t>Cuauhtémoc alone has 95 hot-spot AGEB (67% of its AGEB). Associations describe patterns and do not show cause.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t" lIns="0" rIns="0" tIns="0" bIns="0">
            <a:spAutoFit/>
          </a:bodyPr>
          <a:lstStyle/>
          <a:p>
            <a:pPr algn="l">
              <a:spcAft>
                <a:spcPts val="0"/>
              </a:spcAft>
            </a:pPr>
            <a:r>
              <a:rPr sz="3000" b="1">
                <a:solidFill>
                  <a:srgbClr val="1D232B"/>
                </a:solidFill>
                <a:latin typeface="Calibri"/>
              </a:rPr>
              <a:t>What we found and what to keep in mind</a:t>
            </a:r>
          </a:p>
        </p:txBody>
      </p:sp>
      <p:sp>
        <p:nvSpPr>
          <p:cNvPr id="3" name="Findings card"/>
          <p:cNvSpPr/>
          <p:nvPr/>
        </p:nvSpPr>
        <p:spPr>
          <a:xfrm>
            <a:off x="548640" y="1371600"/>
            <a:ext cx="5440680" cy="448056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indings heading"/>
          <p:cNvSpPr txBox="1"/>
          <p:nvPr/>
        </p:nvSpPr>
        <p:spPr>
          <a:xfrm>
            <a:off x="822960" y="1554480"/>
            <a:ext cx="4937760" cy="365760"/>
          </a:xfrm>
          <a:prstGeom prst="rect">
            <a:avLst/>
          </a:prstGeom>
          <a:noFill/>
        </p:spPr>
        <p:txBody>
          <a:bodyPr wrap="square" anchor="t" lIns="0" rIns="0" tIns="0" bIns="0">
            <a:spAutoFit/>
          </a:bodyPr>
          <a:lstStyle/>
          <a:p>
            <a:pPr algn="l">
              <a:spcAft>
                <a:spcPts val="0"/>
              </a:spcAft>
            </a:pPr>
            <a:r>
              <a:rPr sz="1800" b="1">
                <a:solidFill>
                  <a:srgbClr val="2A78D6"/>
                </a:solidFill>
                <a:latin typeface="Calibri"/>
              </a:rPr>
              <a:t>Findings</a:t>
            </a:r>
          </a:p>
        </p:txBody>
      </p:sp>
      <p:sp>
        <p:nvSpPr>
          <p:cNvPr id="5" name="Findings text"/>
          <p:cNvSpPr txBox="1"/>
          <p:nvPr/>
        </p:nvSpPr>
        <p:spPr>
          <a:xfrm>
            <a:off x="822960" y="2057400"/>
            <a:ext cx="4937760" cy="3840480"/>
          </a:xfrm>
          <a:prstGeom prst="rect">
            <a:avLst/>
          </a:prstGeom>
          <a:noFill/>
        </p:spPr>
        <p:txBody>
          <a:bodyPr wrap="square" anchor="t" lIns="0" rIns="0" tIns="0" bIns="0">
            <a:spAutoFit/>
          </a:bodyPr>
          <a:lstStyle/>
          <a:p>
            <a:pPr algn="l">
              <a:spcAft>
                <a:spcPts val="1400"/>
              </a:spcAft>
            </a:pPr>
            <a:r>
              <a:rPr sz="1700" b="1">
                <a:solidFill>
                  <a:srgbClr val="1D232B"/>
                </a:solidFill>
                <a:latin typeface="Calibri"/>
              </a:rPr>
              <a:t>Crime is clustered. </a:t>
            </a:r>
            <a:r>
              <a:rPr sz="1700" b="0">
                <a:solidFill>
                  <a:srgbClr val="1D232B"/>
                </a:solidFill>
                <a:latin typeface="Calibri"/>
              </a:rPr>
              <a:t>Moran's I = 0.49, with 248 hot-spot AGEB mostly in the central alcaldias.</a:t>
            </a:r>
          </a:p>
          <a:p>
            <a:pPr algn="l">
              <a:spcAft>
                <a:spcPts val="1400"/>
              </a:spcAft>
            </a:pPr>
            <a:r>
              <a:rPr sz="1700" b="1">
                <a:solidFill>
                  <a:srgbClr val="1D232B"/>
                </a:solidFill>
                <a:latin typeface="Calibri"/>
              </a:rPr>
              <a:t>Rates change the ranking. </a:t>
            </a:r>
            <a:r>
              <a:rPr sz="1700" b="0">
                <a:solidFill>
                  <a:srgbClr val="1D232B"/>
                </a:solidFill>
                <a:latin typeface="Calibri"/>
              </a:rPr>
              <a:t>Cuauhtémoc has 53 incidents per 1,000 residents, Iztapalapa only 15.</a:t>
            </a:r>
          </a:p>
          <a:p>
            <a:pPr algn="l">
              <a:spcAft>
                <a:spcPts val="1400"/>
              </a:spcAft>
            </a:pPr>
            <a:r>
              <a:rPr sz="1700" b="1">
                <a:solidFill>
                  <a:srgbClr val="1D232B"/>
                </a:solidFill>
                <a:latin typeface="Calibri"/>
              </a:rPr>
              <a:t>Business activity is linked to crime nearby. </a:t>
            </a:r>
            <a:r>
              <a:rPr sz="1700" b="0">
                <a:solidFill>
                  <a:srgbClr val="1D232B"/>
                </a:solidFill>
                <a:latin typeface="Calibri"/>
              </a:rPr>
              <a:t>Bivariate Moran = 0.19, a modest but significant association.</a:t>
            </a:r>
          </a:p>
          <a:p>
            <a:pPr algn="l">
              <a:spcAft>
                <a:spcPts val="1400"/>
              </a:spcAft>
            </a:pPr>
            <a:r>
              <a:rPr sz="1700" b="1">
                <a:solidFill>
                  <a:srgbClr val="1D232B"/>
                </a:solidFill>
                <a:latin typeface="Calibri"/>
              </a:rPr>
              <a:t>The results are robust. </a:t>
            </a:r>
            <a:r>
              <a:rPr sz="1700" b="0">
                <a:solidFill>
                  <a:srgbClr val="1D232B"/>
                </a:solidFill>
                <a:latin typeface="Calibri"/>
              </a:rPr>
              <a:t>Queen and KNN-8 weights, and Empirical Bayes rates, give the same picture.</a:t>
            </a:r>
          </a:p>
        </p:txBody>
      </p:sp>
      <p:sp>
        <p:nvSpPr>
          <p:cNvPr id="6" name="Limits card"/>
          <p:cNvSpPr/>
          <p:nvPr/>
        </p:nvSpPr>
        <p:spPr>
          <a:xfrm>
            <a:off x="6217920" y="1371600"/>
            <a:ext cx="5440680" cy="4480560"/>
          </a:xfrm>
          <a:prstGeom prst="roundRect">
            <a:avLst>
              <a:gd name="adj" fmla="val 6000"/>
            </a:avLst>
          </a:prstGeom>
          <a:solidFill>
            <a:srgbClr val="14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imits heading"/>
          <p:cNvSpPr txBox="1"/>
          <p:nvPr/>
        </p:nvSpPr>
        <p:spPr>
          <a:xfrm>
            <a:off x="6492240" y="1554480"/>
            <a:ext cx="4937760" cy="365760"/>
          </a:xfrm>
          <a:prstGeom prst="rect">
            <a:avLst/>
          </a:prstGeom>
          <a:noFill/>
        </p:spPr>
        <p:txBody>
          <a:bodyPr wrap="square" anchor="t" lIns="0" rIns="0" tIns="0" bIns="0">
            <a:spAutoFit/>
          </a:bodyPr>
          <a:lstStyle/>
          <a:p>
            <a:pPr algn="l">
              <a:spcAft>
                <a:spcPts val="0"/>
              </a:spcAft>
            </a:pPr>
            <a:r>
              <a:rPr sz="1800" b="1">
                <a:solidFill>
                  <a:srgbClr val="E0731C"/>
                </a:solidFill>
                <a:latin typeface="Calibri"/>
              </a:rPr>
              <a:t>Limitations</a:t>
            </a:r>
          </a:p>
        </p:txBody>
      </p:sp>
      <p:sp>
        <p:nvSpPr>
          <p:cNvPr id="8" name="Limits text"/>
          <p:cNvSpPr txBox="1"/>
          <p:nvPr/>
        </p:nvSpPr>
        <p:spPr>
          <a:xfrm>
            <a:off x="6492240" y="2057400"/>
            <a:ext cx="4937760" cy="3840480"/>
          </a:xfrm>
          <a:prstGeom prst="rect">
            <a:avLst/>
          </a:prstGeom>
          <a:noFill/>
        </p:spPr>
        <p:txBody>
          <a:bodyPr wrap="square" anchor="t" lIns="0" rIns="0" tIns="0" bIns="0">
            <a:spAutoFit/>
          </a:bodyPr>
          <a:lstStyle/>
          <a:p>
            <a:pPr algn="l">
              <a:spcAft>
                <a:spcPts val="1400"/>
              </a:spcAft>
            </a:pPr>
            <a:r>
              <a:rPr sz="1700" b="1">
                <a:solidFill>
                  <a:srgbClr val="FFFFFF"/>
                </a:solidFill>
                <a:latin typeface="Calibri"/>
              </a:rPr>
              <a:t>Different years. </a:t>
            </a:r>
            <a:r>
              <a:rPr sz="1700" b="0">
                <a:solidFill>
                  <a:srgbClr val="C9D6E8"/>
                </a:solidFill>
                <a:latin typeface="Calibri"/>
              </a:rPr>
              <a:t>Population 2020, businesses and crime 2024.</a:t>
            </a:r>
          </a:p>
          <a:p>
            <a:pPr algn="l">
              <a:spcAft>
                <a:spcPts val="1400"/>
              </a:spcAft>
            </a:pPr>
            <a:r>
              <a:rPr sz="1700" b="1">
                <a:solidFill>
                  <a:srgbClr val="FFFFFF"/>
                </a:solidFill>
                <a:latin typeface="Calibri"/>
              </a:rPr>
              <a:t>Reports, not all crimes. </a:t>
            </a:r>
            <a:r>
              <a:rPr sz="1700" b="0">
                <a:solidFill>
                  <a:srgbClr val="C9D6E8"/>
                </a:solidFill>
                <a:latin typeface="Calibri"/>
              </a:rPr>
              <a:t>About 6% of 2024 files have no coordinates.</a:t>
            </a:r>
          </a:p>
          <a:p>
            <a:pPr algn="l">
              <a:spcAft>
                <a:spcPts val="1400"/>
              </a:spcAft>
            </a:pPr>
            <a:r>
              <a:rPr sz="1700" b="1">
                <a:solidFill>
                  <a:srgbClr val="FFFFFF"/>
                </a:solidFill>
                <a:latin typeface="Calibri"/>
              </a:rPr>
              <a:t>Resident denominator. </a:t>
            </a:r>
            <a:r>
              <a:rPr sz="1700" b="0">
                <a:solidFill>
                  <a:srgbClr val="C9D6E8"/>
                </a:solidFill>
                <a:latin typeface="Calibri"/>
              </a:rPr>
              <a:t>Central AGEB have few residents but many visitors, which probably inflates their rates.</a:t>
            </a:r>
          </a:p>
          <a:p>
            <a:pPr algn="l">
              <a:spcAft>
                <a:spcPts val="1400"/>
              </a:spcAft>
            </a:pPr>
            <a:r>
              <a:rPr sz="1700" b="1">
                <a:solidFill>
                  <a:srgbClr val="FFFFFF"/>
                </a:solidFill>
                <a:latin typeface="Calibri"/>
              </a:rPr>
              <a:t>Association only. </a:t>
            </a:r>
            <a:r>
              <a:rPr sz="1700" b="0">
                <a:solidFill>
                  <a:srgbClr val="C9D6E8"/>
                </a:solidFill>
                <a:latin typeface="Calibri"/>
              </a:rPr>
              <a:t>Moran and correlation do not show that businesses cause crime.</a:t>
            </a:r>
          </a:p>
        </p:txBody>
      </p:sp>
      <p:sp>
        <p:nvSpPr>
          <p:cNvPr id="9" name="Next step"/>
          <p:cNvSpPr txBox="1"/>
          <p:nvPr/>
        </p:nvSpPr>
        <p:spPr>
          <a:xfrm>
            <a:off x="548640" y="6126480"/>
            <a:ext cx="11064240" cy="365760"/>
          </a:xfrm>
          <a:prstGeom prst="rect">
            <a:avLst/>
          </a:prstGeom>
          <a:noFill/>
        </p:spPr>
        <p:txBody>
          <a:bodyPr wrap="square" anchor="t" lIns="0" rIns="0" tIns="0" bIns="0">
            <a:spAutoFit/>
          </a:bodyPr>
          <a:lstStyle/>
          <a:p>
            <a:pPr algn="l">
              <a:spcAft>
                <a:spcPts val="0"/>
              </a:spcAft>
            </a:pPr>
            <a:r>
              <a:rPr sz="1400" b="0">
                <a:solidFill>
                  <a:srgbClr val="5B6570"/>
                </a:solidFill>
                <a:latin typeface="Calibri"/>
              </a:rPr>
              <a:t>Next step: add a time dimension (monthly crime and a daytime population estimate) to the warehouse.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